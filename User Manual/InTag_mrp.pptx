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6529"/>
    <a:srgbClr val="153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58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-182880"/>
            <a:ext cx="2743200" cy="2743200"/>
          </a:xfrm>
          <a:prstGeom prst="ellipse">
            <a:avLst/>
          </a:prstGeom>
          <a:solidFill>
            <a:srgbClr val="0B7A8F">
              <a:alpha val="18000"/>
            </a:srgbClr>
          </a:solidFill>
          <a:ln w="12700">
            <a:solidFill>
              <a:srgbClr val="0B7A8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474720" cy="54864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Asset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Platform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operations for manufacturers who demand more.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4343400"/>
            <a:ext cx="2286000" cy="0"/>
          </a:xfrm>
          <a:prstGeom prst="line">
            <a:avLst/>
          </a:prstGeom>
          <a:noFill/>
          <a:ln w="1905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March 2026  ·  CONFIDENTIAL</a:t>
            </a:r>
            <a:endParaRPr lang="en-US" sz="11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1E3A58-F4D1-7E46-0AFF-7A60529F9CD3}"/>
              </a:ext>
            </a:extLst>
          </p:cNvPr>
          <p:cNvGrpSpPr/>
          <p:nvPr/>
        </p:nvGrpSpPr>
        <p:grpSpPr>
          <a:xfrm>
            <a:off x="664699" y="489907"/>
            <a:ext cx="1941341" cy="848985"/>
            <a:chOff x="794825" y="513471"/>
            <a:chExt cx="1941341" cy="84898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3486E1E-01A2-C2C9-63E5-6CE0CD7BF853}"/>
                </a:ext>
              </a:extLst>
            </p:cNvPr>
            <p:cNvSpPr/>
            <p:nvPr/>
          </p:nvSpPr>
          <p:spPr>
            <a:xfrm>
              <a:off x="794825" y="513471"/>
              <a:ext cx="1941341" cy="848985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0AEA60-CB7E-5D30-5B6B-E100D0C69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019" y="598930"/>
              <a:ext cx="1676403" cy="7010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Struggle with Fragmented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create costly inefficiencies across every department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128016"/>
          </a:xfrm>
          <a:prstGeom prst="rect">
            <a:avLst/>
          </a:prstGeom>
          <a:solidFill>
            <a:srgbClr val="153A6B"/>
          </a:solidFill>
          <a:ln w="12700">
            <a:solidFill>
              <a:srgbClr val="15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records in spreadsheets, maintenance in emails, inventory in separate ERP modules — no single source of truth, leading to costly errors and blind spots.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06040" cy="128016"/>
          </a:xfrm>
          <a:prstGeom prst="rect">
            <a:avLst/>
          </a:prstGeom>
          <a:solidFill>
            <a:srgbClr val="EF6529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6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>
              <a:solidFill>
                <a:srgbClr val="EF6529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approvals, manual work orders, and reactive-only maintenance drain productivity and increase the risk of costly equipment failures.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06040" cy="128016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document control and audit trails, maintaining ISO 9001, ISO 55001, and industry certifications becomes expensive and unreliable.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C902A7-83B5-F1F9-72D5-056DB1EE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47" y="94252"/>
            <a:ext cx="1029052" cy="4303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InTag?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InTag is a modular B2B SaaS platform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industrial and manufacturing organizations.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integrates six mission-critical operational areas — asset management, documents, manufacturing, maintenance, inventory, and workflows — into a single, secure, cloud-hosted platform.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one login, one data model, one source of truth.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4389120" cy="0"/>
          </a:xfrm>
          <a:prstGeom prst="line">
            <a:avLst/>
          </a:prstGeom>
          <a:noFill/>
          <a:ln w="9525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675888"/>
            <a:ext cx="2103120" cy="365760"/>
          </a:xfrm>
          <a:prstGeom prst="rect">
            <a:avLst/>
          </a:prstGeom>
          <a:solidFill>
            <a:srgbClr val="EBF2FA"/>
          </a:solidFill>
          <a:ln w="9525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675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Mid-to-Large Manufacturers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97480" y="3675888"/>
            <a:ext cx="2103120" cy="365760"/>
          </a:xfrm>
          <a:prstGeom prst="rect">
            <a:avLst/>
          </a:prstGeom>
          <a:solidFill>
            <a:srgbClr val="EBF2FA"/>
          </a:solidFill>
          <a:ln w="9525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7480" y="3675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151376"/>
            <a:ext cx="2103120" cy="365760"/>
          </a:xfrm>
          <a:prstGeom prst="rect">
            <a:avLst/>
          </a:prstGeom>
          <a:solidFill>
            <a:srgbClr val="EBF2FA"/>
          </a:solidFill>
          <a:ln w="9525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151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97480" y="4151376"/>
            <a:ext cx="2103120" cy="365760"/>
          </a:xfrm>
          <a:prstGeom prst="rect">
            <a:avLst/>
          </a:prstGeom>
          <a:solidFill>
            <a:srgbClr val="EBF2FA"/>
          </a:solidFill>
          <a:ln w="9525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4151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&amp; Aerospace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0640" y="914400"/>
            <a:ext cx="3657600" cy="3931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Integrated Modules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57800" y="1508760"/>
            <a:ext cx="1645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7800" y="150876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0" y="1508760"/>
            <a:ext cx="1645920" cy="822960"/>
          </a:xfrm>
          <a:prstGeom prst="rect">
            <a:avLst/>
          </a:prstGeom>
          <a:solidFill>
            <a:srgbClr val="0B7A8F"/>
          </a:solidFill>
          <a:ln w="12700">
            <a:solidFill>
              <a:srgbClr val="0B7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150876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57800" y="2514600"/>
            <a:ext cx="1645920" cy="822960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251460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0" y="2514600"/>
            <a:ext cx="1645920" cy="82296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251460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(CMMS)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57800" y="3520440"/>
            <a:ext cx="1645920" cy="822960"/>
          </a:xfrm>
          <a:prstGeom prst="rect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5780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40880" y="3520440"/>
            <a:ext cx="1645920" cy="822960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08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 Approvals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D3C6B81-543F-7C06-88CA-3B273265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47" y="94252"/>
            <a:ext cx="1029052" cy="430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0B7A8F"/>
          </a:solidFill>
          <a:ln w="12700">
            <a:solidFill>
              <a:srgbClr val="0B7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Platform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61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from acquisition through disposal — depreciation, condition monitoring, inspections, transfers, and warranty tracking.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0515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0128" y="1051560"/>
            <a:ext cx="182880" cy="1737360"/>
          </a:xfrm>
          <a:prstGeom prst="rect">
            <a:avLst/>
          </a:prstGeom>
          <a:solidFill>
            <a:srgbClr val="0B7A8F"/>
          </a:solidFill>
          <a:ln w="12700">
            <a:solidFill>
              <a:srgbClr val="0B7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1161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84448" y="141732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187452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ISO-compliant version control, digital approval workflows, full-text search, and role-based access with electronic signatures.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0515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182880" cy="1737360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37376" y="1161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37376" y="141732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187452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orders, multi-level BOM, routing &amp; work centers, lot traceability, OEE calculations, and shop floor control.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182880" cy="173736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081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337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(CMMS)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Corrective, preventive, and predictive work orders, PM auto-generation, MTBF/MTTR analytics, and SLA compliance tracking.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2971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10128" y="2971800"/>
            <a:ext cx="182880" cy="1737360"/>
          </a:xfrm>
          <a:prstGeom prst="rect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84448" y="3081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84448" y="3337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84448" y="379476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management, cycle counts, ABC analysis, expiry tracking, reorder automation, and weighted average costing.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2971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63056" y="2971800"/>
            <a:ext cx="182880" cy="1737360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37376" y="3081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6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>
              <a:solidFill>
                <a:srgbClr val="EF6529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7376" y="3337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 Approvals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37376" y="3794760"/>
            <a:ext cx="22402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approval chains, escalation rules, email/in-app notifications, pre-built templates, and immutable audit trails.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4DC3CF2-5AA9-8D1E-D2E7-FDA7BF48E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47" y="94252"/>
            <a:ext cx="1029052" cy="4303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0" y="3840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40817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asset tree with parent-child relationships, QR/barcode support, location and department assignment.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1226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6829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Straight-line, declining balance, sum-of-years, and units-of-production with automated monthly calculations and forecasting.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32841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inspection scoring, configurable checklists, condition-based alerts, and warranty expiry notifications.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3250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28853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from acquisition through commissioning, operation, decommission, and disposal.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78992"/>
            <a:ext cx="2926080" cy="1170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0" y="11704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5760720" y="18470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Methods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404872"/>
            <a:ext cx="2926080" cy="1170432"/>
          </a:xfrm>
          <a:prstGeom prst="rect">
            <a:avLst/>
          </a:prstGeom>
          <a:solidFill>
            <a:srgbClr val="0B7A8F"/>
          </a:solidFill>
          <a:ln w="12700">
            <a:solidFill>
              <a:srgbClr val="0B7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0" y="24963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5760720" y="3172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3730752"/>
            <a:ext cx="2926080" cy="117043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0" y="38221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5760720" y="4498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55001 Compliance Ready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6A57C22-8699-C720-9D9D-588481789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47" y="94252"/>
            <a:ext cx="1029052" cy="4303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0B7A8F"/>
          </a:solidFill>
          <a:ln w="12700">
            <a:solidFill>
              <a:srgbClr val="0B7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0" y="3840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ISO-Compliant Document Control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check-in/check-out with full revision history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 scheduling aligned to ISO 9001 requirements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digital approval workflows with electronic signatures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PDF, Word, and Excel documents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Department-based access control with external sharing &amp; watermarks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distribution with acknowledgement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Document Types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150876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7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17830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150876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1508760"/>
            <a:ext cx="17830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Instructions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260604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17830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Drawings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260604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2606040"/>
            <a:ext cx="17830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6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250" dirty="0">
              <a:solidFill>
                <a:srgbClr val="EF6529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37760" y="370332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703320"/>
            <a:ext cx="17830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Records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3703320"/>
            <a:ext cx="17830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3703320"/>
            <a:ext cx="178308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Templates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96600E-F2F8-490B-66C0-FED6A5E24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47" y="94252"/>
            <a:ext cx="1029052" cy="4303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Maintenance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420624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 ·  Module 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orders with priority management &amp; capacity planning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BOM with version control and phantom assemblies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work centers with setup/run time and labor tracking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Lot/batch/serial traceability from raw materials to finished goods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= Availability x Performance x Quality (per work center)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quality checks with non-conformance management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420624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(CMMS)  ·  Module 04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Corrective, preventive, predictive &amp; emergency work orders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Calendar-based &amp; meter-based PM auto-generation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monitoring with breach alerts and priority-level breakdown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MTBF, MTTR &amp; Availability calculations from failure log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 detection and repeat failure identification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Labor, parts &amp; contractor cost tracking with full audit trail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6CB089-AAD3-81BB-8E3C-6F95DFFB2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47" y="94252"/>
            <a:ext cx="1029052" cy="4303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Workflows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420624"/>
          </a:xfrm>
          <a:prstGeom prst="rect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 ·  Module 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with bin/shelf tracking and stock transfers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Receipts, issues, adjustments &amp; cycle counts with audit trail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levels, reorder points &amp; automated purchase triggers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costing with per-warehouse valuation reporting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analysis, stock aging, expiry tracking &amp; inventory turnover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Lot/serial traceability linked to production and shipping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420624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EF6529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 Approvals  ·  Module 06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parallel &amp; matrix-based approval chains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escalation rules with automatic role-based routing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in-app, and SMS notifications at each workflow step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pre-built templates for common processes (purchase, docs, change)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Delegation, substitution &amp; manual escalation support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trail: user, timestamp, action, and comments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EA6A5E-F88C-D525-CF4B-3FAB115FA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47" y="94252"/>
            <a:ext cx="1029052" cy="4303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InTag?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51760" cy="1801368"/>
          </a:xfrm>
          <a:prstGeom prst="rect">
            <a:avLst/>
          </a:prstGeom>
          <a:solidFill>
            <a:srgbClr val="F4F8FC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82880" cy="1801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612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Unified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91056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in one platform — no integration headaches, one login, one data model, one source of truth.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0128" y="1024128"/>
            <a:ext cx="2651760" cy="1801368"/>
          </a:xfrm>
          <a:prstGeom prst="rect">
            <a:avLst/>
          </a:prstGeom>
          <a:solidFill>
            <a:srgbClr val="F4F8FC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10128" y="1024128"/>
            <a:ext cx="182880" cy="1801368"/>
          </a:xfrm>
          <a:prstGeom prst="rect">
            <a:avLst/>
          </a:prstGeom>
          <a:solidFill>
            <a:srgbClr val="0B7A8F"/>
          </a:solidFill>
          <a:ln w="12700">
            <a:solidFill>
              <a:srgbClr val="0B7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84448" y="11612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Compliance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1591056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55001, HACCP, and GMP compliance baked in — not bolted on — with full audit trails everywhere.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1024128"/>
            <a:ext cx="2651760" cy="1801368"/>
          </a:xfrm>
          <a:prstGeom prst="rect">
            <a:avLst/>
          </a:prstGeom>
          <a:solidFill>
            <a:srgbClr val="F4F8FC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63056" y="1024128"/>
            <a:ext cx="182880" cy="1801368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11612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Scalable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1591056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modules you need. Add more as you grow. Per-module licensing keeps costs aligned with value.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2651760" cy="1801368"/>
          </a:xfrm>
          <a:prstGeom prst="rect">
            <a:avLst/>
          </a:prstGeom>
          <a:solidFill>
            <a:srgbClr val="F4F8FC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90088"/>
            <a:ext cx="182880" cy="1801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127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557016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encryption, JWT auth, OWASP-hardened, GDPR-compliant, and SOC-ready from day 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0128" y="2990088"/>
            <a:ext cx="2651760" cy="1801368"/>
          </a:xfrm>
          <a:prstGeom prst="rect">
            <a:avLst/>
          </a:prstGeom>
          <a:solidFill>
            <a:srgbClr val="F4F8FC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10128" y="2990088"/>
            <a:ext cx="182880" cy="1801368"/>
          </a:xfrm>
          <a:prstGeom prst="rect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84448" y="3127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84448" y="3557016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10, clean layered design, Azure-native deployment, CI/CD pipeline, and full REST API for integrations.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63056" y="2990088"/>
            <a:ext cx="2651760" cy="1801368"/>
          </a:xfrm>
          <a:prstGeom prst="rect">
            <a:avLst/>
          </a:prstGeom>
          <a:solidFill>
            <a:srgbClr val="F4F8FC"/>
          </a:solidFill>
          <a:ln w="12700">
            <a:solidFill>
              <a:srgbClr val="D0DDE8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2990088"/>
            <a:ext cx="182880" cy="1801368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37376" y="3127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Insight-Driven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37376" y="3557016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with cross-module KPIs, compliance scores, critical alerts, and one-click Excel export.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1B70FA7-0D39-D50B-0DD2-4DE064830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47" y="94252"/>
            <a:ext cx="1029052" cy="4303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389120" cy="438912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103120"/>
            <a:ext cx="3474720" cy="3474720"/>
          </a:xfrm>
          <a:prstGeom prst="ellipse">
            <a:avLst/>
          </a:prstGeom>
          <a:solidFill>
            <a:srgbClr val="0B7A8F">
              <a:alpha val="18000"/>
            </a:srgbClr>
          </a:solidFill>
          <a:ln w="12700">
            <a:solidFill>
              <a:srgbClr val="0B7A8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71800" y="0"/>
            <a:ext cx="3200400" cy="54864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unify your operations?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InTag brings your assets, documents, production,
maintenance, inventory, and approvals into one powerful platform.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3154680"/>
            <a:ext cx="2103120" cy="548640"/>
          </a:xfrm>
          <a:prstGeom prst="rect">
            <a:avLst/>
          </a:prstGeom>
          <a:solidFill>
            <a:srgbClr val="EF6529"/>
          </a:solidFill>
          <a:ln w="12700">
            <a:solidFill>
              <a:srgbClr val="EF6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3154680"/>
            <a:ext cx="210312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4A7A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docs.identecheg.com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support.identecheg.com  ·  training.identecheg.com  ·  Version 1.0  ·  March 2026</a:t>
            </a:r>
            <a:endParaRPr lang="en-US" sz="1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221379-D9DC-49B0-841B-363B47529770}"/>
              </a:ext>
            </a:extLst>
          </p:cNvPr>
          <p:cNvGrpSpPr/>
          <p:nvPr/>
        </p:nvGrpSpPr>
        <p:grpSpPr>
          <a:xfrm>
            <a:off x="3509889" y="248295"/>
            <a:ext cx="1941341" cy="848985"/>
            <a:chOff x="794825" y="513471"/>
            <a:chExt cx="1941341" cy="84898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D507030-DAC1-4A79-AA76-643ABB105D39}"/>
                </a:ext>
              </a:extLst>
            </p:cNvPr>
            <p:cNvSpPr/>
            <p:nvPr/>
          </p:nvSpPr>
          <p:spPr>
            <a:xfrm>
              <a:off x="794825" y="513471"/>
              <a:ext cx="1941341" cy="848985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C474BCD-3865-DA28-ECDC-FDF453174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019" y="598930"/>
              <a:ext cx="1676403" cy="7010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959</Words>
  <Application>Microsoft Office PowerPoint</Application>
  <PresentationFormat>On-screen Show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InTag Software Platform</dc:title>
  <dc:subject>PptxGenJS Presentation</dc:subject>
  <dc:creator>InTag Software</dc:creator>
  <cp:lastModifiedBy>Joseph Bishara</cp:lastModifiedBy>
  <cp:revision>8</cp:revision>
  <dcterms:created xsi:type="dcterms:W3CDTF">2026-03-21T17:37:14Z</dcterms:created>
  <dcterms:modified xsi:type="dcterms:W3CDTF">2026-03-21T18:19:06Z</dcterms:modified>
</cp:coreProperties>
</file>